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rial"/>
              </a:defRPr>
            </a:pPr>
            <a:r>
              <a:t>MY ORGANIZATION — SNOWFLAKE VALUE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9B5E8"/>
                </a:solidFill>
                <a:latin typeface="Arial"/>
              </a:defRPr>
            </a:pPr>
            <a:r>
              <a:t>Technology / SaaS  |  MDM.MDM_INTERFACES  |  Strategic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7680960" cy="1828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Arial"/>
              </a:defRPr>
            </a:pPr>
            <a:r>
              <a:t>Assessment Date: July 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Arial"/>
              </a:defRPr>
            </a:pPr>
            <a:r>
              <a:t>Generated by: Snowflake Value Map Skill | Cortex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FBFBF"/>
                </a:solidFill>
                <a:latin typeface="Arial"/>
              </a:defRPr>
            </a:pPr>
            <a:r>
              <a:t>Scope: 71 tables + 69 views (Gold interface layer)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1567F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B5B5B"/>
                </a:solidFill>
                <a:latin typeface="Arial"/>
              </a:defRPr>
            </a:pPr>
            <a:r>
              <a:t>MDM_INTERFACES is a mature MDM hub — source of truth for customer, vendor, employee, and party data. Exceptionally strong for Third-Party Risk, 360 Account Intelligence, and Entity Resolution. Canonical SaaS fit score is 2.96/10 (schema is a data operations backbone, not a telemetry layer).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828800" cy="9144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2.96/10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23160"/>
            <a:ext cx="1828800" cy="320040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CANONICAL FIT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463040"/>
            <a:ext cx="1554480" cy="91440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262626"/>
                </a:solidFill>
                <a:latin typeface="Arial"/>
              </a:defRPr>
            </a:pPr>
            <a:r>
              <a:t>4</a:t>
            </a:r>
            <a:br/>
            <a:r>
              <a:t>READY (DS)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463040"/>
            <a:ext cx="1554480" cy="91440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262626"/>
                </a:solidFill>
                <a:latin typeface="Arial"/>
              </a:defRPr>
            </a:pPr>
            <a:r>
              <a:t>5</a:t>
            </a:r>
            <a:br/>
            <a:r>
              <a:t>NEAR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463040"/>
            <a:ext cx="1554480" cy="914400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6</a:t>
            </a:r>
            <a:br/>
            <a:r>
              <a:t>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B5B5B"/>
                </a:solidFill>
                <a:latin typeface="Arial"/>
              </a:defRPr>
            </a:pPr>
            <a:r>
              <a:t>PHASE 1 READY (deploy now): DS-3 Third-Party Risk  •  DS-2 360 Account Intelligence  •  DS-4 RETL Observability  •  DS-1 MDM Quality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B5B5B"/>
                </a:solidFill>
                <a:latin typeface="Arial"/>
              </a:defRPr>
            </a:pPr>
            <a:r>
              <a:t>NEAR-TERM: UC-5 Revenue Intelligence  •  DS-5 SE Pipeline  •  UC-2 Customer Health  •  UC-10 Partner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204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B5B5B"/>
                </a:solidFill>
                <a:latin typeface="Arial"/>
              </a:defRPr>
            </a:pPr>
            <a:r>
              <a:t>GAP (strategic investment): UC-1 PLG  •  UC-3 Billing  •  UC-7 Support  •  UC-8 Trial Conversion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1567F"/>
                </a:solidFill>
                <a:latin typeface="Arial"/>
              </a:defRPr>
            </a:pPr>
            <a:r>
              <a:t>STRATEGIC GOALS  —  Inferred from Data Investment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85800"/>
            <a:ext cx="2560320" cy="5303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900" b="1" i="0">
                <a:solidFill>
                  <a:srgbClr val="11567F"/>
                </a:solidFill>
                <a:latin typeface="Arial"/>
              </a:defRPr>
            </a:pPr>
            <a:r>
              <a:t>1. Unified Party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740664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ADM_GLOBAL_PARTY_SNAPSHOT (3.7B, SCD2), entity hierarchy, SNOWMESH across SFDC/WD/SN/D&amp;B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44168"/>
            <a:ext cx="2560320" cy="5303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900" b="1" i="0">
                <a:solidFill>
                  <a:srgbClr val="11567F"/>
                </a:solidFill>
                <a:latin typeface="Arial"/>
              </a:defRPr>
            </a:pPr>
            <a:r>
              <a:t>2. Third-Party &amp; Vendor Risk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399032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SOE screening (32K), SecurityScorecard + Panorays history, DUNS enrichment, sanctions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02536"/>
            <a:ext cx="2560320" cy="5303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900" b="1" i="0">
                <a:solidFill>
                  <a:srgbClr val="11567F"/>
                </a:solidFill>
                <a:latin typeface="Arial"/>
              </a:defRPr>
            </a:pPr>
            <a:r>
              <a:t>3. Real-Time SFDC Account 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05740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Crunchbase (696K), FactSet (49.5M), D&amp;B (324K), tech stack (23K), 15+ RETL interfaces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60904"/>
            <a:ext cx="2560320" cy="5303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900" b="1" i="0">
                <a:solidFill>
                  <a:srgbClr val="11567F"/>
                </a:solidFill>
                <a:latin typeface="Arial"/>
              </a:defRPr>
            </a:pPr>
            <a:r>
              <a:t>4. Sales Pipeline Intelligence by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715768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DIM_USE_CASE (97.7K EACV), FACT_USE_CASE_STAGE_MOVEMENT (252K), SE assignment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319272"/>
            <a:ext cx="2560320" cy="5303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900" b="1" i="0">
                <a:solidFill>
                  <a:srgbClr val="11567F"/>
                </a:solidFill>
                <a:latin typeface="Arial"/>
              </a:defRPr>
            </a:pPr>
            <a:r>
              <a:t>5. Engineering Productivity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374136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GITHUB_PULL_REQUEST (4.2M), GITHUB_METRIC (daily), DIM_EMPLOYEE (Workday + GitHub)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1567F"/>
                </a:solidFill>
                <a:latin typeface="Arial"/>
              </a:defRPr>
            </a:pPr>
            <a:r>
              <a:t>USE CASE FIT MATRIX  —  Technology / SaaS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48640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40080"/>
            <a:ext cx="365760" cy="310896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640080"/>
            <a:ext cx="4114800" cy="310896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Use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640080"/>
            <a:ext cx="822960" cy="310896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640080"/>
            <a:ext cx="1371600" cy="310896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69264"/>
            <a:ext cx="3657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969264"/>
            <a:ext cx="41148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Product-Led Growth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969264"/>
            <a:ext cx="8229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969264"/>
            <a:ext cx="1371600" cy="310896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298448"/>
            <a:ext cx="3657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298448"/>
            <a:ext cx="411480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Customer Health &amp; Churn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1298448"/>
            <a:ext cx="8229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298448"/>
            <a:ext cx="1371600" cy="310896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NEAR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627631"/>
            <a:ext cx="3657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1627631"/>
            <a:ext cx="41148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Usage-Based Billing &amp; Metering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1627631"/>
            <a:ext cx="8229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627631"/>
            <a:ext cx="1371600" cy="310896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1956815"/>
            <a:ext cx="3657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1956815"/>
            <a:ext cx="411480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Feature Adoption &amp; Engagement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956815"/>
            <a:ext cx="8229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956815"/>
            <a:ext cx="1371600" cy="310896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NEAR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285999"/>
            <a:ext cx="3657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2285999"/>
            <a:ext cx="41148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Revenue Intelligence (ARR/MRR)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2285999"/>
            <a:ext cx="8229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2285999"/>
            <a:ext cx="1371600" cy="310896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NEAR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615183"/>
            <a:ext cx="3657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2615183"/>
            <a:ext cx="411480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Infrastructure Cost Attribution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2615183"/>
            <a:ext cx="8229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2615183"/>
            <a:ext cx="1371600" cy="310896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GAP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2944367"/>
            <a:ext cx="3657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2944367"/>
            <a:ext cx="41148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Support Ticket Prediction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2944367"/>
            <a:ext cx="8229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2944367"/>
            <a:ext cx="1371600" cy="310896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GAP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273551"/>
            <a:ext cx="3657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3273551"/>
            <a:ext cx="411480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Trial-to-Paid Conversion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3273551"/>
            <a:ext cx="8229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06440" y="3273551"/>
            <a:ext cx="1371600" cy="310896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3602735"/>
            <a:ext cx="3657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3602735"/>
            <a:ext cx="41148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Multi-Tenant Performance Analytics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3602735"/>
            <a:ext cx="8229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06440" y="3602735"/>
            <a:ext cx="1371600" cy="310896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GAP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3931919"/>
            <a:ext cx="3657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3931919"/>
            <a:ext cx="411480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Partner &amp; Marketplace Ecosystem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0" y="3931919"/>
            <a:ext cx="822960" cy="31089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06440" y="3931919"/>
            <a:ext cx="1371600" cy="310896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NEAR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1567F"/>
                </a:solidFill>
                <a:latin typeface="Arial"/>
              </a:defRPr>
            </a:pPr>
            <a:r>
              <a:t>MASTER DATA MANAGEMENT &amp; ENTITY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91440"/>
            <a:ext cx="1920240" cy="329184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READY — Deploy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65836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ADM_GLOBAL_PARTY_SNAPSHOT (3.7B, SCD2) • SNOWMESH_ENTITY_HIERARCHY_FLAT (1.84M) • SNOWMESH_ULTIMATE_PARTY • SNOWMESH_NAME_MATCH_RESULTS • SNOWMESH_EXCEPTIONS (19.5K)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WHY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934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This IS the MDM platform. Snowflake performs entity resolution, deduplication, hierarchy management and golden record creation across SFDC, Workday, ServiceNow, D&amp;B, Crunchbase, and FactSet.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31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Expose SNOWMESH_DATA + SNOWMESH_EXCEPTIONS via Cortex Analyst semantic view; add Dynamic Table freshness monitoring + Alerts on ADM_GLOBAL_PARTY_SNAPSHOT.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2560320" cy="118872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262626"/>
                </a:solidFill>
                <a:latin typeface="Arial"/>
              </a:defRPr>
            </a:pPr>
            <a:r>
              <a:t>20–40%</a:t>
            </a:r>
            <a:br/>
            <a:r>
              <a:t>Duplicate Record Reduction</a:t>
            </a:r>
            <a:br/>
            <a:r>
              <a:t>(industry benchmark)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96896"/>
            <a:ext cx="256032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INDUSTRY 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63240"/>
            <a:ext cx="1362456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9384" y="3063240"/>
            <a:ext cx="1005840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2" y="3063240"/>
            <a:ext cx="1362456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Analyst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7136" y="3063240"/>
            <a:ext cx="1207008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Data Sharing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1567F"/>
                </a:solidFill>
                <a:latin typeface="Arial"/>
              </a:defRPr>
            </a:pPr>
            <a:r>
              <a:t>360 ACCOUNT INTELLIGENCE — MULTI-SOURCE ENRICHMENT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91440"/>
            <a:ext cx="1920240" cy="329184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READY — Deploy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65836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CRUNCHBASE_MAP_TO_ACCOUNT_SFDC (696K) • FACTSET_MAP_TO_ACCOUNT_SFDC (49.5M!) • LEGAL_ENTITY_DNB_SOURCE (324K) • SFDC_ACCOUNT_CONSOLIDATED_INDUSTRY (360K) • SAI_PILOT_TECH_STACK (23K) • FORBES_GLOBAL_2000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WHY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934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Six external enrichment sources joined to SFDC accounts with live RETL pushback — firmographic, financial, tech stack, industry, investor, and employee count data all present and refreshed.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31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Build Cortex Analyst semantic view for AE/SDR NL queries; add Cortex AI anomaly flagging on enrichment drift; expose Forbes G2000 ICP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2560320" cy="118872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262626"/>
                </a:solidFill>
                <a:latin typeface="Arial"/>
              </a:defRPr>
            </a:pPr>
            <a:r>
              <a:t>15–25%</a:t>
            </a:r>
            <a:br/>
            <a:r>
              <a:t>Outbound Conversion</a:t>
            </a:r>
            <a:br/>
            <a:r>
              <a:t>Improvement</a:t>
            </a:r>
            <a:br/>
            <a:r>
              <a:t>(industry benchmark)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96896"/>
            <a:ext cx="256032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INDUSTRY 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63240"/>
            <a:ext cx="1362456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Analyst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9384" y="3063240"/>
            <a:ext cx="1362456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3063240"/>
            <a:ext cx="2061972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AI (AI_COMPLETE)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1567F"/>
                </a:solidFill>
                <a:latin typeface="Arial"/>
              </a:defRPr>
            </a:pPr>
            <a:r>
              <a:t>THIRD-PARTY RISK MANAGEMENT &amp; VENDOR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91440"/>
            <a:ext cx="1920240" cy="329184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READY — Deploy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65836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SECURITY_SCORECARD_HISTORY (SCD2) • PANORAYS_HISTORY (SCD2) • TPCS_SOE_SCREENING_RESULTS (32.5K) • TPCS_SANCTIONS_PORTFOLIO_ASSESSMENT_RESULTS • LEGAL_ENTITY_DNB_SOURCE • VENDOR_MASTER_MAP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WHY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934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SecurityScorecard + Panorays provide full historical security scoring (SCD2 trend); SOE/sanctions screening covers 32.5K entities; all linked to party master via DUNS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31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Dynamic Table for weekly score deltas; Alerts for score drops below threshold; Cortex AI vendor risk narrative summaries; Snowsight vendor risk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2560320" cy="118872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262626"/>
                </a:solidFill>
                <a:latin typeface="Arial"/>
              </a:defRPr>
            </a:pPr>
            <a:r>
              <a:t>20–35%</a:t>
            </a:r>
            <a:br/>
            <a:r>
              <a:t>Reduction in Breach</a:t>
            </a:r>
            <a:br/>
            <a:r>
              <a:t>Exposure Cost</a:t>
            </a:r>
            <a:br/>
            <a:r>
              <a:t>(industry benchmark)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96896"/>
            <a:ext cx="256032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INDUSTRY 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63240"/>
            <a:ext cx="1362456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9384" y="3063240"/>
            <a:ext cx="1005840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2" y="3063240"/>
            <a:ext cx="2061972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AI (AI_COMPLETE)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6652" y="3063240"/>
            <a:ext cx="1207008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Data Sharing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1567F"/>
                </a:solidFill>
                <a:latin typeface="Arial"/>
              </a:defRPr>
            </a:pPr>
            <a:r>
              <a:t>REVERSE ETL &amp; OPERATIONAL DATA SYNC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91440"/>
            <a:ext cx="1920240" cy="329184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READY — Deploy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658368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5B5B5B"/>
                </a:solidFill>
                <a:latin typeface="Arial"/>
              </a:defRPr>
            </a:pPr>
            <a:r>
              <a:t>15+ RETL_* interfaces to Salesforce, ServiceNow, and Workday • Enrichment pushes: industry, employee count, revenue, tech stack • Compliance: SOE status, BJF/DDIQ, third-party approvals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WHY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934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Snowflake already serves as master pushing enriched data back to all operational systems. A complete operational sync layer is deployed and running.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31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5B5B5B"/>
                </a:solidFill>
                <a:latin typeface="Arial"/>
              </a:defRPr>
            </a:pPr>
            <a:r>
              <a:t>Migrate RETL interfaces to Snowflake Tasks + Dynamic Tables; add Error Tables for fault detection; build Snowsight RETL health dashboard; Alerts on sync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53312"/>
            <a:ext cx="2560320" cy="1188720"/>
          </a:xfrm>
          <a:prstGeom prst="round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262626"/>
                </a:solidFill>
                <a:latin typeface="Arial"/>
              </a:defRPr>
            </a:pPr>
            <a:r>
              <a:t>50–70%</a:t>
            </a:r>
            <a:br/>
            <a:r>
              <a:t>Faster RETL Incident</a:t>
            </a:r>
            <a:br/>
            <a:r>
              <a:t>Resolution</a:t>
            </a:r>
            <a:br/>
            <a:r>
              <a:t>(industry benchmark)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96896"/>
            <a:ext cx="256032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INDUSTRY 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63240"/>
            <a:ext cx="1005840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063240"/>
            <a:ext cx="1362456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2" y="3063240"/>
            <a:ext cx="1207008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Error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063240"/>
            <a:ext cx="1005840" cy="292608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CUSTOMER HEALTH SCORING &amp; CHURN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NEAR [UC-2]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411480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WHAT YOU HAVE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ADM_GLOBAL_PARTY_SNAPSHOT — 3.7B row account master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53312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DIM_USE_CASE — 97.7K use cases with EACV &amp;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46504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PRODUCT_TERMS_ACCEPTANCE_ORGANIZATION — 67K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39696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FACTSET_MAP + CRUNCHBASE_MAP — financial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621792"/>
            <a:ext cx="411480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GAPS TO CLOSE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960120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Consumption/usage metrics (join Snowhouse ACCOUNT_USAGE)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99032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NPS/CSAT &amp; support ticket volume (Salesforce Service Cloud)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837943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Champion/exec sponsor contact tracking (enrich from SFDC)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B5B5B"/>
                </a:solidFill>
                <a:latin typeface="Arial"/>
              </a:defRPr>
            </a:pPr>
            <a:r>
              <a:t>Industry Benchmark: 20–40% reduction in gross churn; 5–15pt NRR improvement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971800"/>
            <a:ext cx="1645920" cy="36576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Effort: 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100584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Cortex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3474720"/>
            <a:ext cx="1362456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4952" y="3474720"/>
            <a:ext cx="100584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474720"/>
            <a:ext cx="100584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Snowpark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REVENUE INTELLIGENCE (ARR/MRR ANALYTICS)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NEAR [UC-5]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411480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WHAT YOU HAVE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DIM_USE_CASE — 97.7K use cases with USE_CASE_EACV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53312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FACT_USE_CASE_STAGE_MOVEMENT — 252K full pipeline waterfall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46504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AE_CONTRACT_MAPPING_SFDC/WD — contract linkages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39696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SNOWMESH_COMPANY_CUSTOMER — CONTRACT_END_DATE_MIN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621792"/>
            <a:ext cx="411480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GAPS TO CLOSE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960120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Actual invoiced/paid ARR (billing API join for true NRR)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99032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Post-close consumption ramp (stage movement is pre-close only)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837943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Cohort tags on use cases (segment dimension missing)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B5B5B"/>
                </a:solidFill>
                <a:latin typeface="Arial"/>
              </a:defRPr>
            </a:pPr>
            <a:r>
              <a:t>Industry Benchmark: 10–20% forecast accuracy improvement; real-time ARR vs. monthly manual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971800"/>
            <a:ext cx="1645920" cy="36576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Effort: Low–Medium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1362456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9384" y="3474720"/>
            <a:ext cx="100584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Snowpark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4952" y="3474720"/>
            <a:ext cx="100584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Cortex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474720"/>
            <a:ext cx="1207008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Data Sharing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SE PIPELINE INTELLIGENCE (DEPLOYMENT-SPECIFIC)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NEAR [DS-5]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411480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WHAT YOU HAVE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DIM_USE_CASE — EACV, stage, cloud provider, LEAD_SE_ID, tech tags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53312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FACT_USE_CASE_STAGE_MOVEMENT — 252K transitions with SE, decision 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46504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MOVEIN_GO_LIVE_DATE — deployment timeline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39696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SFDC_ACCOUNT_CONSOLIDATED_INDUSTRY — customer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621792"/>
            <a:ext cx="411480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GAPS TO CLOSE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960120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Post-close consumption data (stages end at Deployed)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99032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SE-to-win-rate attribution model (closed-won + deal attribution)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B5B5B"/>
                </a:solidFill>
                <a:latin typeface="Arial"/>
              </a:defRPr>
            </a:pPr>
            <a:r>
              <a:t>Industry Benchmark: 15–25% pipeline forecast error reduction; SE-assisted deals close 2–3x higher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971800"/>
            <a:ext cx="1645920" cy="36576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Effort: 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1362456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Cortex Analyst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9384" y="3474720"/>
            <a:ext cx="1362456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3474720"/>
            <a:ext cx="2372868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Cortex ML (win probability)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FEATURE ADOPTION &amp;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NEAR [UC-4]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411480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WHAT YOU HAVE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PRODUCT_TERMS_ACCEPTANCE_ORGANIZATION (67K org-level)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53312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PRODUCT_DATA_SHARING_TERMS_ORGANIZATION (56.8K)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46504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LEGAL_FEATURE_SECURITY_QUESTIONS — feature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39696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LEGAL_FEATURE_EPIC_THREEWAY — multi-feature org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621792"/>
            <a:ext cx="411480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GAPS TO CLOSE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960120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Product event stream (terms acceptance ≠ feature usage clicks/API calls)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99032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Feature release dates (no changelog to anchor adoption curves)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837943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User-level adoption (current data is org-level only)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B5B5B"/>
                </a:solidFill>
                <a:latin typeface="Arial"/>
              </a:defRPr>
            </a:pPr>
            <a:r>
              <a:t>Industry Benchmark: Data-driven prioritization improves feature ROI by 20–40%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971800"/>
            <a:ext cx="1645920" cy="36576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Effort: Medium–High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100584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Cortex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3474720"/>
            <a:ext cx="1362456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4952" y="3474720"/>
            <a:ext cx="1984248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Cortex ML (clustering)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PARTNER &amp; MARKETPLACE ECOSYSTEM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262626"/>
                </a:solidFill>
                <a:latin typeface="Arial"/>
              </a:defRPr>
            </a:pPr>
            <a:r>
              <a:t>NEAR [UC-10]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4114800" cy="292608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WHAT YOU HAVE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VENDOR_MASTER_MAP — partner_flag column on 29.9K vendors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53312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SNOWMESH_COMPANY_VENDOR — 6.5K vendor/partner companies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746504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RETL_SFDC_TPCS_PD_THIRDPARTY_APPROVED/REJECTED_SYNC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39696"/>
            <a:ext cx="41148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✓  CRUNCHBASE_ORGANIZATIONS — partner firmographics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621792"/>
            <a:ext cx="411480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GAPS TO CLOSE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960120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Co-sell pipeline linkage (partner_flag exists; no opportunity attribution)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399032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Integration install data (no API call volumes per partner)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837943"/>
            <a:ext cx="4114800" cy="402336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□  Partner tier classification and revenue share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5B5B5B"/>
                </a:solidFill>
                <a:latin typeface="Arial"/>
              </a:defRPr>
            </a:pPr>
            <a:r>
              <a:t>Industry Benchmark: 10–25% SaaS revenue from ecosystem; 15–30% lower churn for 2+ integrations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971800"/>
            <a:ext cx="1645920" cy="365760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262626"/>
                </a:solidFill>
                <a:latin typeface="Arial"/>
              </a:defRPr>
            </a:pPr>
            <a:r>
              <a:t>Effort: Medium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74720"/>
            <a:ext cx="1207008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Data Sharing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73936" y="3474720"/>
            <a:ext cx="1362456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3474720"/>
            <a:ext cx="2606040" cy="292608"/>
          </a:xfrm>
          <a:prstGeom prst="round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262626"/>
                </a:solidFill>
                <a:latin typeface="Arial"/>
              </a:defRPr>
            </a:pPr>
            <a:r>
              <a:t>Snowpark (co-sell attribution)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PRODUCT-LED GROWTH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GAP [UC-1]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Missing: Product event/telemetry stream • Activation milestones • Self-serve funnel • Experiment assignments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PATH TO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173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1. Ingest platform product events via Snowpipe Streaming → PRODUCT_EVENT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74519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2. Define activation milestones in PRODUCT_MILESTONE dimension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317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3. Build Dynamic Table funnel: event → activation → conversion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889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4. Layer Cortex ML propensity scoring on funnel cohorts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33856"/>
            <a:ext cx="2743200" cy="7132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MARKETPLACE</a:t>
            </a:r>
            <a:br/>
            <a:r>
              <a:t>SaaS benchmarks (OpenView, Bessemer) for PLG funnel benchmarks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920240"/>
            <a:ext cx="2743200" cy="1005840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15–30%</a:t>
            </a:r>
            <a:br/>
            <a:r>
              <a:t>Activation Rate</a:t>
            </a:r>
            <a:br/>
            <a:r>
              <a:t>Improvement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80944"/>
            <a:ext cx="2743200" cy="2560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STRATEGIC VALUE (IF DEPLOYED)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80"/>
            <a:ext cx="1673352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Snowpipe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3383280"/>
            <a:ext cx="1362456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12464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USAGE-BASED BILLING &amp; METERING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GAP [UC-3]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Missing: Tenant meter events • Plan/tier dimensions • Usage aggregates • Invoice/payment records • Credit burn-down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PATH TO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173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1. Expose ACCOUNT_USAGE.METERING_HISTORY or billing API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74519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2. Build USAGE_AGGREGATE Dynamic Table at org/billing period grain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317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3. Join to PRODUCT_TERMS_ACCEPTANCE_ORGANIZATION for plan entitlements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889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4. Trigger Alerts for commitment threshold warnings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33856"/>
            <a:ext cx="2743200" cy="7132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MARKETPLACE</a:t>
            </a:r>
            <a:br/>
            <a:r>
              <a:t>None needed — all data is internal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920240"/>
            <a:ext cx="2743200" cy="1005840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10–20%</a:t>
            </a:r>
            <a:br/>
            <a:r>
              <a:t>Revenue Uplift</a:t>
            </a:r>
            <a:br/>
            <a:r>
              <a:t>from Usage Transparency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80944"/>
            <a:ext cx="2743200" cy="2560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STRATEGIC VALUE (IF DEPLOYED)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80"/>
            <a:ext cx="1673352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Snowpipe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3383280"/>
            <a:ext cx="1362456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12464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Alerts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INFRASTRUCTURE COST ATTRIBUTION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GAP [UC-6]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Missing: Cloud billing data (AWS/GCP/Azure) • Tenant-to-resource mapping • Cost center allocation • Budget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PATH TO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173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1. Connect cloud billing exports to Snowflake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74519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2. Add resource tagging to tenant mapping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317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3. Build tenant cost allocation algorithm in Snowpark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889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4. Dynamic Table dashboards for per-tenant margin visibility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33856"/>
            <a:ext cx="2743200" cy="7132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MARKETPLACE</a:t>
            </a:r>
            <a:br/>
            <a:r>
              <a:t>Cloud cost benchmark datasets (Gartner, FinOps Foundation)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920240"/>
            <a:ext cx="2743200" cy="1005840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15–30%</a:t>
            </a:r>
            <a:br/>
            <a:r>
              <a:t>Cost Attribution</a:t>
            </a:r>
            <a:br/>
            <a:r>
              <a:t>Accuracy Improvement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80944"/>
            <a:ext cx="2743200" cy="2560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STRATEGIC VALUE (IF DEPLOYED)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Snowpark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3383280"/>
            <a:ext cx="1362456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44952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SUPPORT TICKET &amp; ESCALATION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GAP [UC-7]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Missing: Customer support ticket metadata • SLA tracking • Resolution history • CSAT scores • Escalation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PATH TO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173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1. Ingest Salesforce Service Cloud or Zendesk ticket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74519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2. Join to CUSTOMER_PARTY_ACCOUNT_MAP_SFDC for account linkage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317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3. Cortex ML escalation risk classifier + SLA breach forecaster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889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4. Dynamic Table SLA monitoring with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33856"/>
            <a:ext cx="2743200" cy="7132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MARKETPLACE</a:t>
            </a:r>
            <a:br/>
            <a:r>
              <a:t>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920240"/>
            <a:ext cx="2743200" cy="1005840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20–35%</a:t>
            </a:r>
            <a:br/>
            <a:r>
              <a:t>Reduction in</a:t>
            </a:r>
            <a:br/>
            <a:r>
              <a:t>Escalations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80944"/>
            <a:ext cx="2743200" cy="2560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STRATEGIC VALUE (IF DEPLOYED)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88336" y="3383280"/>
            <a:ext cx="1362456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TRIAL-TO-PAID CONVERSION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GAP [UC-8]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Missing: Trial behavior events • Feature usage during trial • Conversion timestamps • A/B experiment assignments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PATH TO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173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1. Ingest trial telemetry via Snowpipe Streaming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74519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2. Join to PARTY_CREATION_FUNNEL for funnel anchoring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317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3. Cortex ML conversion probability model by trial behavior segment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889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4. Dynamic Table trial dashboards + intervention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33856"/>
            <a:ext cx="2743200" cy="7132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MARKETPLACE</a:t>
            </a:r>
            <a:br/>
            <a:r>
              <a:t>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920240"/>
            <a:ext cx="2743200" cy="1005840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15–30%</a:t>
            </a:r>
            <a:br/>
            <a:r>
              <a:t>Trial-to-Paid</a:t>
            </a:r>
            <a:br/>
            <a:r>
              <a:t>Conversion Improvement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80944"/>
            <a:ext cx="2743200" cy="2560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STRATEGIC VALUE (IF DEPLOYED)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3383280"/>
            <a:ext cx="1362456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44952" y="3383280"/>
            <a:ext cx="1673352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Snowpipe Streaming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1567F"/>
                </a:solidFill>
                <a:latin typeface="Arial"/>
              </a:defRPr>
            </a:pPr>
            <a:r>
              <a:t>MULTI-TENANT PERFORMANCE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91440"/>
            <a:ext cx="2194560" cy="329184"/>
          </a:xfrm>
          <a:prstGeom prst="roundRect">
            <a:avLst/>
          </a:prstGeom>
          <a:solidFill>
            <a:srgbClr val="A2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GAP [UC-9]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621792"/>
            <a:ext cx="8412480" cy="43891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A20000"/>
                </a:solidFill>
                <a:latin typeface="Arial"/>
              </a:defRPr>
            </a:pPr>
            <a:r>
              <a:t>Missing: Per-tenant request latency • Error rates • Resource consumption • SLA compliance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338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567F"/>
                </a:solidFill>
                <a:latin typeface="Arial"/>
              </a:defRPr>
            </a:pPr>
            <a:r>
              <a:t>PATH TO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173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1. Expose ACCOUNT_USAGE.QUERY_HISTORY at org grain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74519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2. Build Dynamic Table SLA monitors (org-level p95 latency)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317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317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3. Cortex ML anomaly detection for performance degradation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292608" cy="32004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788920"/>
            <a:ext cx="502920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>
              <a:defRPr sz="800" b="0" i="0">
                <a:solidFill>
                  <a:srgbClr val="262626"/>
                </a:solidFill>
                <a:latin typeface="Arial"/>
              </a:defRPr>
            </a:pPr>
            <a:r>
              <a:t>4. Alerts on SLA threshold breach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133856"/>
            <a:ext cx="2743200" cy="7132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MARKETPLACE</a:t>
            </a:r>
            <a:br/>
            <a:r>
              <a:t>None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920240"/>
            <a:ext cx="2743200" cy="1005840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99.9%+</a:t>
            </a:r>
            <a:br/>
            <a:r>
              <a:t>SLA Achievement;</a:t>
            </a:r>
            <a:br/>
            <a:r>
              <a:t>30–50% Faster</a:t>
            </a:r>
            <a:br/>
            <a:r>
              <a:t>Incident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80944"/>
            <a:ext cx="2743200" cy="256032"/>
          </a:xfrm>
          <a:prstGeom prst="round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STRATEGIC VALUE (IF DEPLOYED)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383280"/>
            <a:ext cx="1362456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Dynamic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9384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Cortex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44952" y="3383280"/>
            <a:ext cx="1005840" cy="292608"/>
          </a:xfrm>
          <a:prstGeom prst="round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rial"/>
              </a:defRPr>
            </a:pPr>
            <a:r>
              <a:t>Alerts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411480" y="640080"/>
            <a:ext cx="2560320" cy="640080"/>
          </a:xfrm>
          <a:prstGeom prst="chevron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900" b="1">
                <a:solidFill>
                  <a:srgbClr val="262626"/>
                </a:solidFill>
                <a:latin typeface="Arial"/>
              </a:defRPr>
            </a:pPr>
            <a:r>
              <a:t>PHASE 1</a:t>
            </a:r>
            <a:br/>
            <a:r>
              <a:t>QUICK WINS</a:t>
            </a:r>
            <a:br/>
            <a:r>
              <a:t>(READY)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DS-3: Third-Party Risk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29967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DS-2: 360 Account Semantic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88336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DS-4: RETL Observability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346704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DS-1: MDM Quality Monitoring</a:t>
            </a:r>
          </a:p>
        </p:txBody>
      </p:sp>
      <p:sp>
        <p:nvSpPr>
          <p:cNvPr id="10" name="Chevron 9"/>
          <p:cNvSpPr/>
          <p:nvPr/>
        </p:nvSpPr>
        <p:spPr>
          <a:xfrm>
            <a:off x="3063240" y="640080"/>
            <a:ext cx="2560320" cy="640080"/>
          </a:xfrm>
          <a:prstGeom prst="chevron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900" b="1">
                <a:solidFill>
                  <a:srgbClr val="262626"/>
                </a:solidFill>
                <a:latin typeface="Arial"/>
              </a:defRPr>
            </a:pPr>
            <a:r>
              <a:t>PHASE 2</a:t>
            </a:r>
            <a:br/>
            <a:r>
              <a:t>GAP CLOSURE</a:t>
            </a:r>
            <a:br/>
            <a:r>
              <a:t>(NEAR)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371600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UC-5: Revenue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029967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DS-5: SE Pipeline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688336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UC-2: Customer Health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3346704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UC-10: Partner Ecosystem</a:t>
            </a:r>
          </a:p>
        </p:txBody>
      </p:sp>
      <p:sp>
        <p:nvSpPr>
          <p:cNvPr id="15" name="Chevron 14"/>
          <p:cNvSpPr/>
          <p:nvPr/>
        </p:nvSpPr>
        <p:spPr>
          <a:xfrm>
            <a:off x="5715000" y="640080"/>
            <a:ext cx="2560320" cy="640080"/>
          </a:xfrm>
          <a:prstGeom prst="chevron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PHASE 3</a:t>
            </a:r>
            <a:br/>
            <a:r>
              <a:t>STRATEGIC</a:t>
            </a:r>
            <a:br/>
            <a:r>
              <a:t>(GAP)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371600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UC-3: Usage-Based Billing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029967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UC-1: Product-Led Growth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2688336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UC-7: Support Prediction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3346704"/>
            <a:ext cx="2560320" cy="566928"/>
          </a:xfrm>
          <a:prstGeom prst="roundRect">
            <a:avLst/>
          </a:prstGeom>
          <a:solidFill>
            <a:srgbClr val="26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Arial"/>
              </a:defRPr>
            </a:pPr>
            <a:r>
              <a:t>UC-9: Perf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FBFBF"/>
                </a:solidFill>
                <a:latin typeface="Arial"/>
              </a:defRPr>
            </a:pPr>
            <a:r>
              <a:t>Phase 1: No dependencies — activate value from existing data.  Phase 2: Join consumption data + billing.  Phase 3: New telemetry pipelines required.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BUSINESS IMPACT  —  Industry Benchmarks (Not Entity-Calibrated)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30352"/>
            <a:ext cx="84124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640080"/>
            <a:ext cx="1371600" cy="13716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REVENUE</a:t>
            </a:r>
            <a:br/>
            <a:r>
              <a:t>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640080"/>
            <a:ext cx="2788920" cy="1371600"/>
          </a:xfrm>
          <a:prstGeom prst="roundRect">
            <a:avLst/>
          </a:prstGeom>
          <a:solidFill>
            <a:srgbClr val="1E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15–30%</a:t>
            </a:r>
            <a:br/>
            <a:r>
              <a:t>Improvement in pipeline</a:t>
            </a:r>
            <a:br/>
            <a:r>
              <a:t>conversion &amp; forecast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640080"/>
            <a:ext cx="1371600" cy="13716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RISK</a:t>
            </a:r>
            <a:br/>
            <a:r>
              <a:t>MITIGATION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640080"/>
            <a:ext cx="2788920" cy="1371600"/>
          </a:xfrm>
          <a:prstGeom prst="roundRect">
            <a:avLst/>
          </a:prstGeom>
          <a:solidFill>
            <a:srgbClr val="1E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20–35%</a:t>
            </a:r>
            <a:br/>
            <a:r>
              <a:t>Reduction in third-party</a:t>
            </a:r>
            <a:br/>
            <a:r>
              <a:t>breach exposure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31720"/>
            <a:ext cx="1371600" cy="13716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REVENUE</a:t>
            </a:r>
            <a:br/>
            <a:r>
              <a:t>RETENTION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331720"/>
            <a:ext cx="2788920" cy="1371600"/>
          </a:xfrm>
          <a:prstGeom prst="roundRect">
            <a:avLst/>
          </a:prstGeom>
          <a:solidFill>
            <a:srgbClr val="1E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20–40%</a:t>
            </a:r>
            <a:br/>
            <a:r>
              <a:t>Reduction in gross churn</a:t>
            </a:r>
            <a:br/>
            <a:r>
              <a:t>(with health scoring)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331720"/>
            <a:ext cx="1371600" cy="13716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OPERATIONAL</a:t>
            </a:r>
            <a:br/>
            <a:r>
              <a:t>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2788920" cy="1371600"/>
          </a:xfrm>
          <a:prstGeom prst="roundRect">
            <a:avLst/>
          </a:prstGeom>
          <a:solidFill>
            <a:srgbClr val="1E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rial"/>
              </a:defRPr>
            </a:pPr>
            <a:r>
              <a:t>30–70%</a:t>
            </a:r>
            <a:br/>
            <a:r>
              <a:t>Faster RETL &amp; MDM incident</a:t>
            </a:r>
            <a:br/>
            <a:r>
              <a:t>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77639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BFBFBF"/>
                </a:solidFill>
                <a:latin typeface="Arial"/>
              </a:defRPr>
            </a:pPr>
            <a:r>
              <a:t>⚠  All figures are published industry benchmarks — NOT calibrated to Snowflake Inc.'s revenue, cost structure, or operational maturity.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7680960" cy="1828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9B5E8"/>
                </a:solidFill>
                <a:latin typeface="Arial"/>
              </a:defRPr>
            </a:pPr>
            <a:r>
              <a:t>1.  Activate Phase 1: Build vendor risk dashboard + Cortex Analyst semantic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072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9B5E8"/>
                </a:solidFill>
                <a:latin typeface="Arial"/>
              </a:defRPr>
            </a:pPr>
            <a:r>
              <a:t>2.  Connect MDM account master to Snowhouse ACCOUNT_USAGE (Customer Health foundation)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8269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9B5E8"/>
                </a:solidFill>
                <a:latin typeface="Arial"/>
              </a:defRPr>
            </a:pPr>
            <a:r>
              <a:t>3.  Build EACV waterfall from DIM_USE_CASE + FACT_USE_CASE_STAGE_MOVEMENT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58183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9B5E8"/>
                </a:solidFill>
                <a:latin typeface="Arial"/>
              </a:defRPr>
            </a:pPr>
            <a:r>
              <a:t>4.  Define telemetry pipeline architecture for Phase 3 (PLG + Billing)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FBFBF"/>
                </a:solidFill>
                <a:latin typeface="Arial"/>
              </a:defRPr>
            </a:pPr>
            <a:r>
              <a:t>Generated by Snowflake Value Map Skill  |  Cortex Code  |  July 2,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